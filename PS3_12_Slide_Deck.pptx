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9" r:id="rId11"/>
    <p:sldId id="260" r:id="rId12"/>
    <p:sldId id="262" r:id="rId14"/>
    <p:sldId id="264" r:id="rId16"/>
    <p:sldId id="266" r:id="rId18"/>
    <p:sldId id="269" r:id="rId21"/>
    <p:sldId id="270" r:id="rId22"/>
    <p:sldId id="274" r:id="rId26"/>
    <p:sldId id="275" r:id="rId27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18" Type="http://schemas.openxmlformats.org/officeDocument/2006/relationships/slide" Target="slides/slide1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PS3: address-intelligence geocoder with uncertainty and evidence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results on the train split: 2,175 addresses, 3,896 visits, 66 surveyed truth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geocoder is useful only if it raises the probability a field visit is productive.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of the report lists the full 10-file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Section 4; Tables 10–12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deterministic aggregator (stage 4) works even where the learned ranker has no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16 + the Section 6.4 formulas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20 + Figure 6. 48/66 addresses use visit evidence; 18 fall back to the geocode.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21 + Figure 7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Four-phase rollout from shadow mode to continuous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Indian Institute of Technology Kharagpur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EEAF6"/>
                </a:solidFill>
                <a:latin typeface="Times New Roman"/>
              </a:rPr>
              <a:t>Applied Data Intelligence (ADI)  •  Problem Set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DC3E6"/>
                </a:solidFill>
                <a:latin typeface="Times New Roman"/>
              </a:rPr>
              <a:t>PROBLEM SET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AI-Native Field Address Geocoder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Exploratory Data Analysis, Model Architecture,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Evaluation and Delivery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Name: Kartik        Roll No.: 2025112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EEAF6"/>
                </a:solidFill>
                <a:latin typeface="Times New Roman"/>
              </a:rPr>
              <a:t>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58368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EEAF6"/>
                </a:solidFill>
                <a:latin typeface="Times New Roman"/>
              </a:rPr>
              <a:t>PS3_Geocoder_EDA.ipynb  •  PS3_PROBLEM_SOLUTION_REPORT.md  •  evaluation artifact (SHA-256 pinned)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858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50" b="0" i="0">
                <a:solidFill>
                  <a:srgbClr val="1A1A1A"/>
                </a:solidFill>
                <a:latin typeface="Times New Roman"/>
              </a:rPr>
              <a:t>Problem: collection addresses are descriptions, not pins — the commercial geocoder returns a locality centre while the operational answer is “behind the ration shop, two lanes after the temple”.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50" b="0" i="0">
                <a:solidFill>
                  <a:srgbClr val="1A1A1A"/>
                </a:solidFill>
                <a:latin typeface="Times New Roman"/>
              </a:rPr>
              <a:t>Solution: an evidence-fusion geocoder — address text + landmarks + visit history + GPS quality + dwell + integrity signals → location + uncertainty radius + evidence trail + operational action (visit_directly / verify_first / skip).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50" b="0" i="0">
                <a:solidFill>
                  <a:srgbClr val="1A1A1A"/>
                </a:solidFill>
                <a:latin typeface="Times New Roman"/>
              </a:rPr>
              <a:t>Model: 150-tree LightGBM ranker over a 21-feature evidence contract, fronted by a deterministic reliability-weighted aggregator; confirmed and predicted locations kept strictly separate.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204.4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median error (weighted geocoder, n = 66)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3009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6161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−46.3%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6161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median error vs commercial baseline (380.8 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3098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250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53.0%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250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within 250 m (baseline: 28.8%)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3188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6340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72.7%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6340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radius coverage of true 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3277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429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3.3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429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per prediction • ECE 0.155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111858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Conservative by design: projected metres (not WGS84), no check-in treated as ground truth, no causal claims without treatment assignment + independent recovery outcome.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Reproducible: every run writes a JSON artifact with run ID, SHA-256 source hashes, baselines, ablations, split metadata and explicit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The Business Problem: Cost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493776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Channel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Fully-loaded cost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SMS / WhatsApp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fraction of a rupee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AI voice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~INR 1–3 per call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Human tele-caller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~INR 15–30 per connect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Productive field visit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~INR 150–400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200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Times New Roman"/>
              </a:rPr>
              <a:t>Objective: recovery net of contact cost, goodwill and compliance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25880"/>
            <a:ext cx="59280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Why ordinary geocoding fails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Mixed Devanagari / Roman / Kannada / Hindi / English text and transliteration variants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Relational descriptions: “behind”, “near”, “opposite” — informal landmarks absent from global geocoders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Locality names shared by several towns; addresses that name a shop or workplace, not a residence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Why visit GPS is valuable but imperfect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Check-ins are evidence, not truth: met at work, poor GPS, tea-stall check-ins, failed searches near (not at) the address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1" i="0">
                <a:solidFill>
                  <a:srgbClr val="1A1A1A"/>
                </a:solidFill>
                <a:latin typeface="Times New Roman"/>
              </a:rPr>
              <a:t>Fix: combine evidence with reliability weights and uncertainty — never copy the latest latitude and longitude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Dataset and Data Quality (train split)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7607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737360"/>
                <a:gridCol w="17373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Rows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Size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accounts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1,680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220.8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addresses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2,175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278.3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field_visits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3,896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658.3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1.0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baseline_geocodes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64.6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surveyed_addresses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1.6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visit_gps_points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112,080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5.1 MB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landmarks_poi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240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11.3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localities / towns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36 / 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1.9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37960" y="1280160"/>
            <a:ext cx="5148072" cy="10515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Times New Roman"/>
              </a:rPr>
              <a:t>Coordinates are projected local metres — not WGS84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Times New Roman"/>
              </a:rPr>
              <a:t>error_m = sqrt((Δx)² + (Δy)²); ranges ±4,400 m confirm a local CRS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5148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0 orphan rows across all 5 core joins (addresses→accounts, visits→addresses, surveyed→addresses, baseline→addresses)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0 duplicate primary keys in any table; nulls only in optional attributes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3 towns · 3 address styles (karnataka, hindi, metro) · 2,175 addresses · 240 landmarks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Address mix: 78% residence, 15% office, 7% permanent-native; 99% from KYC origination, 19 skip_trace (the hard cases)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Every artifact records SHA-256 of source files — results reproducible against identical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EDA — Evidence Quality: GPS Accuracy vs Dwell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39496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Median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P90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Max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GPS accuracy (m)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54.0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Dwell time (s)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339.8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203.0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908.0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1,495.0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60604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Dwell is the discriminator: median 876 s on met_borrower vs 78 s on address_not_traceable — an 11× gap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GPS accuracy barely moves across outcomes (9.1–10.9 m median) — it is a filter, not a discriminator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1" i="0">
                <a:solidFill>
                  <a:srgbClr val="1F3864"/>
                </a:solidFill>
                <a:latin typeface="Times New Roman"/>
              </a:rPr>
              <a:t>Weighting encodes the separation: (1/accuracy) × dwell/300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Agent concentration is mild (top agent 470 vs fleet average 130) → agent-independence feature guards clusters</a:t>
            </a:r>
          </a:p>
        </p:txBody>
      </p:sp>
      <p:pic>
        <p:nvPicPr>
          <p:cNvPr id="9" name="Picture 8" descr="fig_01_cel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486400" cy="165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28785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2. GPS-accuracy distribution (left) and dwell by outcome (right).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Model Architecture: End-to-End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308" y="1280160"/>
            <a:ext cx="7408903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6308" y="6071616"/>
            <a:ext cx="74089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4. Inputs → normalisation → entities → five-source candidate generation → evidence weighting → LightGBM ranker → uncertainty → action → consumers.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Evidence Weighting and Candidate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2011680"/>
          </a:xfrm>
          <a:prstGeom prst="rect">
            <a:avLst/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44752"/>
            <a:ext cx="5266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SUCCESSFUL = {met_borrower, met_family, cash_collected}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weight    = (1 / gps_accuracy) * clip(dwell, 1, 600) / 300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predicted = weighted average of successful check-ins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radius    = max(50 m, weighted RMS spread)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confidence = clip(1 - radius / 1000, 0,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No usable successful visit → fall back to the commercial geocode with a 500 m radius. Shared-place clusters propagate only under source and reliability thresholds — never unconditional copying.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79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Five candidate sources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Commercial / open geocoder — prior and fallback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Historical successful visits — weighted centroid (strongest source)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Nearby confirmed accounts / shared-place clusters — guarded corroboration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Landmarks &amp; locality centroids — anchor for “behind the temple”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Agent-remarks corrections — conservative, high-precision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Model Evaluation: Head-to-Head (n = 66)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83112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2468880"/>
                <a:gridCol w="2743200"/>
                <a:gridCol w="176479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Commercial baseline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Weighted visit centroid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Change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Median error (m)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380.8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204.4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−46.3%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P90 / P95 error (m)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745.6 / 1,176.9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639.2 / 797.1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−14.3% / −32.3%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50 / 100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4.5% / 9.1%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27.3% / 37.9%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+22.7 / +28.8 pts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250 m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28.8%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53.0%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+24.2 pts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500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71.2%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78.8%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+7.6 pts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Radius coverage (error ≤ radius)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72.7%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Latency (ms / prediction)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3.31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compariso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220" y="3840480"/>
            <a:ext cx="702108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0220" y="5934456"/>
            <a:ext cx="7021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6. Error percentiles (left) and share within each threshold (right).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Uncertainty Coverage and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39496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463040"/>
                <a:gridCol w="155448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Bin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 predicted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Empirical ≤ 250 m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 – 0.6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0.302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 – 0.9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0.880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0.9 – 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260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ECE = 0.155 on 66 predictions; radius coverage 72.7%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High-confidence bin (radius ≤ 100 m): 20/20 correct within 250 m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Middle bin over-confident (0.50 predicted vs 0.30 observed) → default verify_first; recalibrate on held-out data before pilot thresholds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Coverage is reported with accuracy: the 27% without visit history get the geocode fallback, not silence</a:t>
            </a:r>
          </a:p>
        </p:txBody>
      </p:sp>
      <p:pic>
        <p:nvPicPr>
          <p:cNvPr id="9" name="Picture 8" descr="fig_03_cell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297680" cy="33069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4898037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7. Predicted confidence vs empirical within-250 m accuracy.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Security, RBAC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Role-based access control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Borrower locations, visit trails, agent GPS, remarks and territory metrics are sensitive operational data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Agents: own territory only · managers: broader views · auditors: evidence + audit · admins: configuration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Retraining endpoint protected by backend RBAC — hiding the UI nav item is not the security boundary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1" i="0">
                <a:solidFill>
                  <a:srgbClr val="1A1A1A"/>
                </a:solidFill>
                <a:latin typeface="Times New Roman"/>
              </a:rPr>
              <a:t>Production: tenant + territory scoping at the data-query boundary, not only the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79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RBI and DPDP boundaries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Per-deployment configuration and audit: contact hours and frequency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Consent and purpose limitation; retention and deletion windows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Access logging and export controls; separation of collections data from unrelated uses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Agent-monitoring governance; incident response and correction workflows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1" i="0">
                <a:solidFill>
                  <a:srgbClr val="1A1A1A"/>
                </a:solidFill>
                <a:latin typeface="Times New Roman"/>
              </a:rPr>
              <a:t>The geocoder must not infer locations beyond what collections requires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Deployment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35607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1 — Shadow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ingest evidence without changing planner decisions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measure error, coverage, calibration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review integrity alerts with field managers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3258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435607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2 — Controlled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1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comparable territories; frozen model version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record action assignment + recovery outcomes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productive visits/agent-day; cost per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04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95020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3 — Guarded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370832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direct visits only above calibrated thresholds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low confidence → verification route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rollback path to incumbent planner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8404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95020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4 — Continuous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370832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version data / model / config / artifacts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rerun temporal + geography holdouts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recalibrate; retention-driven deletion; audits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0" i="0">
                <a:solidFill>
                  <a:srgbClr val="1A1A1A"/>
                </a:solidFill>
                <a:latin typeface="Times New Roman"/>
              </a:rPr>
              <a:t>An evidence-learning geocoder, not a generic lookup: normalisation → entities → five-source candidates → reliability weighting → 150-tree LightGBM ranker → uncertainty-driven action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0" i="0">
                <a:solidFill>
                  <a:srgbClr val="1A1A1A"/>
                </a:solidFill>
                <a:latin typeface="Times New Roman"/>
              </a:rPr>
              <a:t>Measured: median error 204.4 m vs 380.8 m (−46.3%), within-250 m 53.0% vs 28.8%, 72.7% radius coverage, ECE 0.155, 3.3 ms per prediction — all reproducible from the SHA-256-pinned artifact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0" i="0">
                <a:solidFill>
                  <a:srgbClr val="1A1A1A"/>
                </a:solidFill>
                <a:latin typeface="Times New Roman"/>
              </a:rPr>
              <a:t>Where it is strong: high-confidence predictions (20/20) and evidence-rich accounts. Where it stays honest: the uncertain middle band, the 27% without visit history, and causal claims the data cannot support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1" i="0">
                <a:solidFill>
                  <a:srgbClr val="1F3864"/>
                </a:solidFill>
                <a:latin typeface="Times New Roman"/>
              </a:rPr>
              <a:t>Ready for Phase 1 shadow mode behind a real collections operation — that discipline, not a single number, is the delivery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11185855" cy="10515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Times New Roman"/>
              </a:rPr>
              <a:t>Thank you — questions on the model, the evaluation boundary, or the rollout plan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