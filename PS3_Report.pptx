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PS3: address-intelligence geocoder with uncertainty and evidence trails.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Fourteen sections; the deck follows the report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results on the train split: 2,175 addresses, 3,896 visits, 66 surveyed truth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geocoder is useful only if it raises the probability a field visit is productive.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3 of the report lists the full 10-file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Section 4; Table 9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Section 4; Tables 10–12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13–14 of the report. Only 28.8% within 250 m — the headroom the evidence geocoder must fill.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deterministic aggregator (stage 4) works even where the learned ranker has no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15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16 + the Section 6.4 formulas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Tables 17–18 of the report; ranges from the model artifact feature_infos.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19 + Figure 5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20 + Figure 6. 48/66 addresses use visit evidence; 18 fall back to the geocode.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21 + Figure 7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Insights 1–4 of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Insights 5–8 of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Four-phase rollout from shadow mode to continuous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limitations, verbatim in substance from Section 12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22 of the report. Acceptance checklist (Table 23): 1 of 16 items satisfied pre-pilot — ranker disjoint-ID assertion.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858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</a:rPr>
              <a:t>Indian Institute of Technology Kharagpur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EEAF6"/>
                </a:solidFill>
                <a:latin typeface="Times New Roman"/>
              </a:rPr>
              <a:t>Applied Data Intelligence (ADI)  •  Problem Set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DC3E6"/>
                </a:solidFill>
                <a:latin typeface="Times New Roman"/>
              </a:rPr>
              <a:t>PROBLEM SET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Times New Roman"/>
              </a:rPr>
              <a:t>AI-Native Field Address Geocoder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Exploratory Data Analysis, Model Architecture,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Times New Roman"/>
              </a:rPr>
              <a:t>Evaluation and Delivery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Name: Kartik        Roll No.: 2025112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DEEAF6"/>
                </a:solidFill>
                <a:latin typeface="Times New Roman"/>
              </a:rPr>
              <a:t>October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583680"/>
            <a:ext cx="10360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EEAF6"/>
                </a:solidFill>
                <a:latin typeface="Times New Roman"/>
              </a:rPr>
              <a:t>PS3_Geocoder_EDA.ipynb  •  PS3_PROBLEM_SOLUTION_REPORT.md  •  evaluation artifact (SHA-256 pinned)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Report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1.  Executive Summary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2.  The Business Problem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3.  Dataset and Data Quality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4.  Exploratory Analysis of Field-Visit Evidence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5.  Commercial Baseline Geocoder Evaluation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6.  Model Architecture and Detailed Design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7.  Model Evaluation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8.  Key Insights and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9.  Evaluation Framework and Reproducibility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10. Security, RBAC and Compliance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11. Deployment Plan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12. Known Limitations and Next Engineering Work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13. Deliverables and Submission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1A1A1A"/>
                </a:solidFill>
                <a:latin typeface="Times New Roman"/>
              </a:rPr>
              <a:t>14.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858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Problem: collection addresses are descriptions, not pins — the commercial geocoder returns a locality centre while the operational answer is “behind the ration shop, two lanes after the temple”.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Solution: an evidence-fusion geocoder — address text + landmarks + visit history + GPS quality + dwell + integrity signals → location + uncertainty radius + evidence trail + operational action (visit_directly / verify_first / skip).</a:t>
            </a:r>
          </a:p>
          <a:p>
            <a:pPr>
              <a:spcAft>
                <a:spcPts val="600"/>
              </a:spcAft>
            </a:pPr>
            <a:r>
              <a:rPr sz="11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50" b="0" i="0">
                <a:solidFill>
                  <a:srgbClr val="1A1A1A"/>
                </a:solidFill>
                <a:latin typeface="Times New Roman"/>
              </a:rPr>
              <a:t>Model: 150-tree LightGBM ranker over a 21-feature evidence contract, fronted by a deterministic reliability-weighted aggregator; confirmed and predicted locations kept strictly separate.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204.4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median error (weighted geocoder, n = 66)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3009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6161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−46.3%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46161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median error vs commercial baseline (380.8 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3098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250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53.0%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6250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within 250 m (baseline: 28.8%)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3188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6340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72.7%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6340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radius coverage of true location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83277" y="3429000"/>
            <a:ext cx="2105497" cy="9601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56429" y="3520440"/>
            <a:ext cx="195919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864"/>
                </a:solidFill>
                <a:latin typeface="Times New Roman"/>
              </a:rPr>
              <a:t>3.3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6429" y="3995928"/>
            <a:ext cx="195919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per prediction • ECE 0.155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1118585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Conservative by design: projected metres (not WGS84), no check-in treated as ground truth, no causal claims without treatment assignment + independent recovery outcome.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Reproducible: every run writes a JSON artifact with run ID, SHA-256 source hashes, baselines, ablations, split metadata and explicit limitations.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The Business Problem: Cost and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4937760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22860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Channel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Fully-loaded cost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SMS / WhatsApp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fraction of a rupee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AI voice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1–3 per call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Human tele-caller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15–30 per connect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Productive field visit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~INR 150–400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20040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1F3864"/>
                </a:solidFill>
                <a:latin typeface="Times New Roman"/>
              </a:rPr>
              <a:t>Objective: recovery net of contact cost, goodwill and compliance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25880"/>
            <a:ext cx="59280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Why ordinary geocoding fails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Mixed Devanagari / Roman / Kannada / Hindi / English text and transliteration variants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Relational descriptions: “behind”, “near”, “opposite” — informal landmarks absent from global geocoders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Locality names shared by several towns; addresses that name a shop or workplace, not a residence</a:t>
            </a:r>
          </a:p>
          <a:p>
            <a:pPr algn="l">
              <a:spcBef>
                <a:spcPts val="1000"/>
              </a:spcBef>
              <a:spcAft>
                <a:spcPts val="4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Why visit GPS is valuable but imperfect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Check-ins are evidence, not truth: met at work, poor GPS, tea-stall check-ins, failed searches near (not at) the address</a:t>
            </a:r>
          </a:p>
          <a:p>
            <a:pPr>
              <a:spcAft>
                <a:spcPts val="4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1" i="0">
                <a:solidFill>
                  <a:srgbClr val="1A1A1A"/>
                </a:solidFill>
                <a:latin typeface="Times New Roman"/>
              </a:rPr>
              <a:t>Fix: combine evidence with reliability weights and uncertainty — never copy the latest latitude and longitude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Dataset and Data Quality (train split)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7607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1737360"/>
                <a:gridCol w="173736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Table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Rows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Size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accounts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1,680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220.8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addresses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2,175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278.3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field_visits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3,896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658.3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1.0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baseline_geocodes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2,010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64.6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surveyed_addresses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1.6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visit_gps_points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112,080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5.1 MB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landmarks_poi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11.3 KB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localities / towns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36 / 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1.9 KB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37960" y="1280160"/>
            <a:ext cx="5148072" cy="10515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371600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F3864"/>
                </a:solidFill>
                <a:latin typeface="Times New Roman"/>
              </a:rPr>
              <a:t>Coordinates are projected local metres — not WGS84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1A1A1A"/>
                </a:solidFill>
                <a:latin typeface="Times New Roman"/>
              </a:rPr>
              <a:t>error_m = sqrt((Δx)² + (Δy)²); ranges ±4,400 m confirm a local CRS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51480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0 orphan rows across all 5 core joins (addresses→accounts, visits→addresses, surveyed→addresses, baseline→addresses)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0 duplicate primary keys in any table; nulls only in optional attributes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3 towns · 3 address styles (karnataka, hindi, metro) · 2,175 addresses · 240 landmarks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Address mix: 78% residence, 15% office, 7% permanent-native; 99% from KYC origination, 19 skip_trace (the hard cases)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Every artifact records SHA-256 of source files — results reproducible against identical inputs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EDA — Field-Visit Outcomes (n = 3,896)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394960" cy="26334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280160"/>
                <a:gridCol w="12801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Outcome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Visits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Share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address_not_traceable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957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24.6%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locked_premises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901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23.1%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met_borrower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766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19.7%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met_family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730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18.7%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neighbour_says_shifted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8.5%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no_such_person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3.9%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cash_collected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16052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1,555 of 3,896 visits (39.9%) are successful contacts (orange in the chart)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Failed visits are still information: they mark where agents searched and found nobody — the raw signal behind “address-not-traceable”</a:t>
            </a:r>
          </a:p>
        </p:txBody>
      </p:sp>
      <p:pic>
        <p:nvPicPr>
          <p:cNvPr id="9" name="Picture 8" descr="fig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349240" cy="21987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3789850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1. Outcome distribution; orange = successful-contact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EDA — Evidence Quality: GPS Accuracy vs Dwell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394960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Median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P90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GPS accuracy (m)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11.28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18.7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54.0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Dwell time (s)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339.8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203.0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908.0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1,495.0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60604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Dwell is the discriminator: median 876 s on met_borrower vs 78 s on address_not_traceable — an 11× gap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GPS accuracy barely moves across outcomes (9.1–10.9 m median) — it is a filter, not a discriminator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1" i="0">
                <a:solidFill>
                  <a:srgbClr val="1F3864"/>
                </a:solidFill>
                <a:latin typeface="Times New Roman"/>
              </a:rPr>
              <a:t>Weighting encodes the separation: (1/accuracy) × dwell/300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Agent concentration is mild (top agent 470 vs fleet average 130) → agent-independence feature guards clusters</a:t>
            </a:r>
          </a:p>
        </p:txBody>
      </p:sp>
      <p:pic>
        <p:nvPicPr>
          <p:cNvPr id="9" name="Picture 8" descr="fig_01_cell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00200"/>
            <a:ext cx="5486400" cy="1651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2200" y="3287855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2. GPS-accuracy distribution (left) and dwell by outcome (right).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Commercial Baseline Geocoder (n = 66 surveyed)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394960" cy="20482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Median error (m)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380.8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P90 / P95 error (m)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745.6 / 1,176.9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4.5%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100 m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9.1%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250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500 m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71.2%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566160"/>
          <a:ext cx="5394960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371600"/>
                <a:gridCol w="137160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Town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Median (m)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Within 250 m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T2 Devgarh Nagar (hindi)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359.3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33.3%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T3 Navanagara East (metro)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369.3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28.6%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T1 Kaveripura (karnataka)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420.2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25.0%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074920"/>
            <a:ext cx="5394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1F3864"/>
                </a:solidFill>
                <a:latin typeface="Times New Roman"/>
              </a:rPr>
              <a:t>The failure tracks address style: the weakest town is the Kannataka-style T1 — transliteration and script diversity degrade global geocoders.</a:t>
            </a:r>
          </a:p>
        </p:txBody>
      </p:sp>
      <p:pic>
        <p:nvPicPr>
          <p:cNvPr id="10" name="Picture 9" descr="fig_02_cell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4480560" cy="36256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12522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3. Baseline error distribution: tight core near 400–600 m, heavy tail to ~2.2 km.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Model Architecture: End-to-End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8</a:t>
            </a:r>
          </a:p>
        </p:txBody>
      </p:sp>
      <p:pic>
        <p:nvPicPr>
          <p:cNvPr id="7" name="Picture 6" descr="fi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6308" y="1280160"/>
            <a:ext cx="7408903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76308" y="6071616"/>
            <a:ext cx="74089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4. Inputs → normalisation → entities → five-source candidate generation → evidence weighting → LightGBM ranker → uncertainty → action → consumers.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Pipeline: Stage-by-Stage Contract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8311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377440"/>
                <a:gridCol w="3931920"/>
                <a:gridCol w="2587752"/>
              </a:tblGrid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</a:rPr>
                        <a:t>Input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Processing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Times New Roman"/>
                        </a:rPr>
                        <a:t>Output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 Ingestion &amp; CRS validation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 CSV files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Existence checks, SHA-256, projected-CRS declaration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Clean tables + artifact metadata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2. Address normalisation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Raw multilingual text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Unicode, whitespace, abbreviations, transliteration-aware tokens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Normalised string (original kept for audit)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3. Entity &amp; relation extraction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Normalised address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House/plot, roads, village/town, landmarks, relations, pincodes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Searchable entity set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 Candidate generation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Entities + 5 sources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Resolve vs landmarks, localities, visits, confirmed accounts, remarks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Alternative coordinates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 Evidence weighting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Check-ins + quality signals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w = (1/acc) × dwell/300; integrity, recency, agent controls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Weighted evidence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 Candidate ranking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21-feature vector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LightGBM, 150 trees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Accept probabilities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7. Uncertainty &amp; action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Winner + spread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radius = max(50, wRMS); conf = 1 − r/1000; thresholds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Pin + radius + action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8. Persistence &amp; serving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Prediction + confirmed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Confirmed/predicted separation; RBAC routes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00" b="0" i="0">
                          <a:solidFill>
                            <a:srgbClr val="1A1A1A"/>
                          </a:solidFill>
                          <a:latin typeface="Times New Roman"/>
                        </a:rPr>
                        <a:t>App, planner, PS2 RPC, dashboards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Evidence Weighting and Candidate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5486400" cy="2011680"/>
          </a:xfrm>
          <a:prstGeom prst="rect">
            <a:avLst/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44752"/>
            <a:ext cx="5266944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SUCCESSFUL = {met_borrower, met_family, cash_collected}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weight    = (1 / gps_accuracy) * clip(dwell, 1, 600) / 300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predicted = weighted average of successful check-ins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radius    = max(50 m, weighted RMS spread)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Courier New"/>
              </a:rPr>
              <a:t>confidence = clip(1 - radius / 1000, 0,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No usable successful visit → fall back to the commercial geocode with a 500 m radius. Shared-place clusters propagate only under source and reliability thresholds — never unconditional copying.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79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Five candidate sources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Commercial / open geocoder — prior and fallback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Historical successful visits — weighted centroid (strongest source)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Nearby confirmed accounts / shared-place clusters — guarded corroboration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Landmarks &amp; locality centroids — anchor for “behind the temple”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Agent-remarks corrections — conservative, high-precision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Ranker: 21-Feature Contract and Training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6035040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3017520"/>
                <a:gridCol w="146304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Times New Roman"/>
                        </a:rPr>
                        <a:t>Feature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Times New Roman"/>
                        </a:rPr>
                        <a:t>Training range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Text 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address_similarity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0.10–0.60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Text similarity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landmark_similarity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0.00–0.40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Text 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locality_similarity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0.30–0.80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 evidence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distance_to_successful_visits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const 999999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 evidence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distance_to_failed_visits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const 999999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 evidence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number_of_supporting_visits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0–7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 evidence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weighted_successful_visit_count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0–7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quality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visit_integrity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0.80–1.00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quality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gps_accuracy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4.1–1000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quality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dwell_time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0–1475 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Evidence quality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trajectory_quality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0.20–0.70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Corroboration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nearby_account_support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default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Corroboration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place_cluster_support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default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Commercial ref.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commercial_geocoder_distance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default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Adversarial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agent_independence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 one-hot (6)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source_historical / nearby / geocoder / landmark / locality / pincode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0–1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188720"/>
          <a:ext cx="4828032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090672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Parameter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Times New Roman"/>
                        </a:rPr>
                        <a:t>Value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Framework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LightGBM binary (sigmoid), text v4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Trees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150 retained (cap 200)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Learning rate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Leaves per tree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31 (trees 452–885 nodes)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Bagging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0.8, every 5 iters (seed 400)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Min data in leaf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Split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Deterministic account-level 80/20, disjoint-ID assertion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Check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P(accept | zero vector) = 0.6927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Portability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5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Embedded base64 in notebook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What the Ranker Learned: 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39496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188720"/>
                <a:gridCol w="1188720"/>
              </a:tblGrid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Feature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Gain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Splits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address_similarity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816.8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181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gps_accuracy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404.0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74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visit_integrity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365.1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number_of_supporting_visits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346.1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locality_similarity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129.5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105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landmark_similarity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109.3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26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weighted_successful_visit_count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82.5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source_locality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36.1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source_geocoder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4.3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agent_independence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2.4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source_pincode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1.1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trajectory_quality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0.067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12064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1F3864"/>
                </a:solidFill>
                <a:latin typeface="Times New Roman"/>
              </a:rPr>
              <a:t>Text similarity and evidence quality dominate; the three raw distance features and five corroboration/source features contribute no gain (constant at training).</a:t>
            </a:r>
          </a:p>
        </p:txBody>
      </p:sp>
      <p:pic>
        <p:nvPicPr>
          <p:cNvPr id="9" name="Picture 8" descr="fig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49240" cy="26622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4161853"/>
            <a:ext cx="5349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5. Feature gain (log scale).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Model Evaluation: Head-to-Head (n = 66)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83112" cy="24871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2468880"/>
                <a:gridCol w="2743200"/>
                <a:gridCol w="1764792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Metric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Commercial baseline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Weighted visit centroid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Change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Median error (m)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380.8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204.4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−46.3%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P90 / P95 error (m)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745.6 / 1,176.9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639.2 / 797.1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−14.3% / −32.3%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 / 100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4.5% / 9.1%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27.3% / 37.9%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+22.7 / +28.8 pts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250 m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28.8%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53.0%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+24.2 pts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Within 500 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71.2%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78.8%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+7.6 pts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Radius coverage (error ≤ radius)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72.7%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Latency (ms / prediction)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3.31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compariso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20" y="3840480"/>
            <a:ext cx="7021080" cy="2057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570220" y="5934456"/>
            <a:ext cx="7021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6. Error percentiles (left) and share within each threshold (right).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Uncertainty Coverage and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5394960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463040"/>
                <a:gridCol w="1554480"/>
                <a:gridCol w="8229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Bin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 predicted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Empirical ≤ 250 m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Times New Roman"/>
                        </a:rPr>
                        <a:t>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 – 0.6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0.302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43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 – 0.9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0.880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0.667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 – 1.0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0.946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1.000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1000" b="0" i="0">
                          <a:solidFill>
                            <a:srgbClr val="1A1A1A"/>
                          </a:solidFill>
                          <a:latin typeface="Times New Roman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26080"/>
            <a:ext cx="5394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ECE = 0.155 on 66 predictions; radius coverage 72.7%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High-confidence bin (radius ≤ 100 m): 20/20 correct within 250 m</a:t>
            </a:r>
          </a:p>
          <a:p>
            <a:pPr>
              <a:spcAft>
                <a:spcPts val="6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Middle bin over-confident (0.50 predicted vs 0.30 observed) → default verify_first; recalibrate on held-out data before pilot thresholds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100" b="0" i="0">
                <a:solidFill>
                  <a:srgbClr val="1A1A1A"/>
                </a:solidFill>
                <a:latin typeface="Times New Roman"/>
              </a:rPr>
              <a:t>Coverage is reported with accuracy: the 27% without visit history get the geocode fallback, not silence</a:t>
            </a:r>
          </a:p>
        </p:txBody>
      </p:sp>
      <p:pic>
        <p:nvPicPr>
          <p:cNvPr id="9" name="Picture 8" descr="fig_03_cell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297680" cy="33069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4898037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595959"/>
                </a:solidFill>
                <a:latin typeface="Times New Roman"/>
              </a:rPr>
              <a:t>Figure 7. Predicted confidence vs empirical within-250 m accuracy.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Key Insights (1–4)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1. The baseline fails for linguistic, not geographic, reasons.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Within-250 m share tracks address style: T1 karnataka 25.0% vs T2 hindi 33.3% — the pipeline invests in normalisation and entity resolution, not locale tuning.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2. Dwell is the evidence discriminator; GPS accuracy is the filter.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Median dwell 876 s (met_borrower) vs 78 s (not_traceable) — 11×; accuracy moves only 9.1–10.9 m. The weight (1/acc) × dwell/300 encodes exactly this.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3. Visit history already contains the location the geocoder is missing.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A single deterministic weighted centroid cuts median error 46.3% — the learned ranker refines the signal, it does not replace it.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4. The hard 27% define the fallback contract.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18/66 addresses have no usable successful visit → geocode + 500 m radius. Coverage and accuracy are reported together, always.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Key Insights (5–8)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858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5. Confidence is bimodal: near-perfect at the top, over-confident in the middle.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20/20 correct in the 0.9–1.0 bin; 0.50 predicted vs 0.30 observed in the middle → govern thresholds: auto-route only above the calibrated bar.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6. The ranker is evidence-driven, not proximity-driven.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Top gains: address_similarity 816.8, gps_accuracy 404.0, visit_integrity 365.1, supporting visits 346.1; all raw distance features zero gain.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7. The data is structurally clean enough to evaluate losslessly.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0 orphans, 0 duplicate keys → every baseline is evaluated on the identical 66 addresses.</a:t>
            </a:r>
          </a:p>
          <a:p>
            <a:pPr>
              <a:spcBef>
                <a:spcPts val="800"/>
              </a:spcBef>
              <a:spcAft>
                <a:spcPts val="300"/>
              </a:spcAft>
            </a:pPr>
            <a:r>
              <a:rPr sz="1200" b="1" i="0">
                <a:solidFill>
                  <a:srgbClr val="1F3864"/>
                </a:solidFill>
                <a:latin typeface="Times New Roman"/>
              </a:rPr>
              <a:t>8. Causal claims are withheld by design, and that is measurable.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Times New Roman"/>
              </a:rPr>
              <a:t>No treatment arm, no independent recovery outcome → the artifact returns not_estimable as a first-class, hash-pinned status.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Evaluation Framework and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6035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Versioned JSON artifact per run: run ID, artifact version, split, SHA-256 input hashes, baselines, ablations, split metadata, radar, causal status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Ablations: address-only / +visits / +integrity / +nearby (not_estimable without an independent nearby table — never silently substituted)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Radar: 6 axes, explicitly labelled baseline_coverage until a frozen model scores held-out data</a:t>
            </a:r>
          </a:p>
          <a:p>
            <a:pPr>
              <a:spcAft>
                <a:spcPts val="6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Temporal split: pre-cutoff visits only; geography holdout: held-out town, train-town retrain before scoring; account-level split: disjoint-ID assertion</a:t>
            </a:r>
          </a:p>
          <a:p>
            <a:pPr>
              <a:spcAft>
                <a:spcPts val="4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Runner: python -m evaluation.ps3_experiments Dataset --split train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463040"/>
            <a:ext cx="4828032" cy="2286000"/>
          </a:xfrm>
          <a:prstGeom prst="rect">
            <a:avLst/>
          </a:prstGeom>
          <a:solidFill>
            <a:srgbClr val="DEEAF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67728" y="1536192"/>
            <a:ext cx="4608576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"status": "not_estimable",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"estimand": "policy value /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  treatment effect",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"required_columns": [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  "treatment/action/policy_arm",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  "recovery outcome",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  "pre-treatment covariates"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  ]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977639"/>
            <a:ext cx="48280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1">
                <a:solidFill>
                  <a:srgbClr val="1F3864"/>
                </a:solidFill>
                <a:latin typeface="Times New Roman"/>
              </a:rPr>
              <a:t>Counterfactual policy evaluation (IPW / doubly robust) is deliberately not computable from the supplied files. This is a feature — a pilot must record policy arm, covariates, recovery and cost before any causal claim.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Security, RBAC and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Role-based access control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Borrower locations, visit trails, agent GPS, remarks and territory metrics are sensitive operational data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Agents: own territory only · managers: broader views · auditors: evidence + audit · admins: configuration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Retraining endpoint protected by backend RBAC — hiding the UI nav item is not the security boundary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1" i="0">
                <a:solidFill>
                  <a:srgbClr val="1A1A1A"/>
                </a:solidFill>
                <a:latin typeface="Times New Roman"/>
              </a:rPr>
              <a:t>Production: tenant + territory scoping at the data-query boundary, not only the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379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1F3864"/>
                </a:solidFill>
                <a:latin typeface="Times New Roman"/>
              </a:rPr>
              <a:t>RBI and DPDP boundaries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Per-deployment configuration and audit: contact hours and frequency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Consent and purpose limitation; retention and deletion windows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Access logging and export controls; separation of collections data from unrelated uses</a:t>
            </a:r>
          </a:p>
          <a:p>
            <a:pPr>
              <a:spcAft>
                <a:spcPts val="500"/>
              </a:spcAft>
            </a:pPr>
            <a:r>
              <a:rPr sz="105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Agent-monitoring governance; incident response and correction workflows</a:t>
            </a:r>
          </a:p>
          <a:p>
            <a:pPr>
              <a:spcAft>
                <a:spcPts val="40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50" b="1" i="0">
                <a:solidFill>
                  <a:srgbClr val="1A1A1A"/>
                </a:solidFill>
                <a:latin typeface="Times New Roman"/>
              </a:rPr>
              <a:t>The geocoder must not infer locations beyond what collections requires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Deployment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35607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1 — Shadow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1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ingest evidence without changing planner decisions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measure error, coverage, calibration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review integrity alerts with field managers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3258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435607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2 — Controlled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1856231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comparable territories; frozen model version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record action assignment + recovery outcomes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productive visits/agent-day; cost per recovery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04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395020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3 — Guarded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370832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direct visits only above calibrated thresholds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low confidence → verification route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rollback path to incumbent planner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840480"/>
            <a:ext cx="5486400" cy="233172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950208"/>
            <a:ext cx="5157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Phase 4 — Continuous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370832"/>
            <a:ext cx="5157216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version data / model / config / artifacts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rerun temporal + geography holdouts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000" b="0" i="0">
                <a:solidFill>
                  <a:srgbClr val="1A1A1A"/>
                </a:solidFill>
                <a:latin typeface="Times New Roman"/>
              </a:rPr>
              <a:t>recalibrate; retention-driven deletion; audits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Known Limitations and Next Engineering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1.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Planner: distance-aware prioritiser, not yet a travel-time/cost route optimiser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2.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PS3 dataset cannot support a causal policy-value estimate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3.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Nearby-account ablation needs an independent evidence table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4.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Geography holdout requires train-town-only retraining before scoring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5.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Held-out account partition should be scored separately by the full harness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79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6.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Remark-to-offset extraction stays conservative by design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7.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Cluster propagation needs lender-specific scale thresholds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8.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Offline: dead-letter exists; conflict resolution + idempotency need hardening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9.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Tenant/territory filtering must be enforced in repository queries</a:t>
            </a:r>
          </a:p>
          <a:p>
            <a:pPr>
              <a:spcAft>
                <a:spcPts val="800"/>
              </a:spcAft>
            </a:pPr>
            <a:r>
              <a:rPr sz="1100" b="1" i="0">
                <a:solidFill>
                  <a:srgbClr val="2E74B5"/>
                </a:solidFill>
                <a:latin typeface="Times New Roman"/>
              </a:rPr>
              <a:t>10.  </a:t>
            </a:r>
            <a:r>
              <a:rPr sz="1050" b="0" i="0">
                <a:solidFill>
                  <a:srgbClr val="1A1A1A"/>
                </a:solidFill>
                <a:latin typeface="Times New Roman"/>
              </a:rPr>
              <a:t>Full notebook execution needs backend notebook dependencies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PS3 Deliverables and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11183112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"/>
                <a:gridCol w="2468880"/>
                <a:gridCol w="2926080"/>
                <a:gridCol w="5376672"/>
              </a:tblGrid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Deliverable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Times New Roman"/>
                        </a:rPr>
                        <a:t>Evidence</a:t>
                      </a:r>
                    </a:p>
                  </a:txBody>
                  <a:tcPr marL="45720" marR="45720" marT="9144" marB="9144" anchor="ctr">
                    <a:solidFill>
                      <a:srgbClr val="1F386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EDA + evaluation notebook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PS3_Geocoder_EDA.ipynb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22 cells; syntax-validated; embedded ranker; artifact writer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Trained ranker model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Embedded base64 in notebook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150 trees, 21 features, account-level 80/20 split (Sec. 6)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Versioned evaluation artifact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ps3_notebook_train.json / ps3_eval_&lt;run_id&gt;.json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SHA-256 hashes, run ID, ablations, splits, causal status (Sec. 9)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Backend geocoder service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Project backend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Planner, PS2 RPC, account search, admin retraining, RBAC (Sec. 6.8)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Frontend field app + dashboards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Project frontend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Pin + radius + evidence, offline queue, WGS84-only maps rule (Sec. 6.8)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Solution documentation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PS3_PROBLEM_SOLUTION_REPORT.md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Problem–solution mapping, deployment plan, checklist</a:t>
                      </a:r>
                    </a:p>
                  </a:txBody>
                  <a:tcPr marL="45720" marR="45720" marT="9144" marB="9144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This report + deck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PS3_Report.pdf / PS3_Report.pptx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 i="0">
                          <a:solidFill>
                            <a:srgbClr val="1A1A1A"/>
                          </a:solidFill>
                          <a:latin typeface="Times New Roman"/>
                        </a:rPr>
                        <a:t>Findings, architecture, evidence, delivery status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74B5"/>
                </a:solidFill>
                <a:latin typeface="Times New Roman"/>
              </a:rPr>
              <a:t>SECTION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111858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85855" cy="292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00" b="0" i="1">
                <a:solidFill>
                  <a:srgbClr val="595959"/>
                </a:solidFill>
                <a:latin typeface="Times New Roman"/>
              </a:rPr>
              <a:t>PS3 — AI-Native Field Address Geocoder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74375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Times New Roman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An evidence-learning geocoder, not a generic lookup: normalisation → entities → five-source candidates → reliability weighting → 150-tree LightGBM ranker → uncertainty-driven action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Measured: median error 204.4 m vs 380.8 m (−46.3%), within-250 m 53.0% vs 28.8%, 72.7% radius coverage, ECE 0.155, 3.3 ms per prediction — all reproducible from the SHA-256-pinned artifact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0" i="0">
                <a:solidFill>
                  <a:srgbClr val="1A1A1A"/>
                </a:solidFill>
                <a:latin typeface="Times New Roman"/>
              </a:rPr>
              <a:t>Where it is strong: high-confidence predictions (20/20) and evidence-rich accounts. Where it stays honest: the uncertain middle band, the 27% without visit history, and causal claims the data cannot support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2E74B5"/>
                </a:solidFill>
                <a:latin typeface="Times New Roman"/>
              </a:rPr>
              <a:t>•  </a:t>
            </a:r>
            <a:r>
              <a:rPr sz="1200" b="1" i="0">
                <a:solidFill>
                  <a:srgbClr val="1F3864"/>
                </a:solidFill>
                <a:latin typeface="Times New Roman"/>
              </a:rPr>
              <a:t>Ready for Phase 1 shadow mode behind a real collections operation — that discipline, not a single number, is the delivery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892040"/>
            <a:ext cx="11185855" cy="10515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1F3864"/>
                </a:solidFill>
                <a:latin typeface="Times New Roman"/>
              </a:rPr>
              <a:t>Thank you — questions on the model, the evaluation boundary, or the rollout plan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